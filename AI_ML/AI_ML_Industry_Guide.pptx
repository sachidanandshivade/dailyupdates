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INDUSTRY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Machine Learning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Where it's used · How to build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From Data to Decisions — A Complete Industry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We'll Cover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029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07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What is AI/ML?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5727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Core concepts, types, and how machines learn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9728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207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The ML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57276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→ Model → Deploy — industry workflow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86000"/>
            <a:ext cx="50292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286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395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Industry Use Cases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7614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Finance, Healthcare, Retail, Manufacturing &amp; more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28600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286000"/>
            <a:ext cx="502920" cy="10058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86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395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Tools &amp; Technologies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7614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Python, TensorFlow, AWS, Azure, Databricks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474720"/>
            <a:ext cx="50292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74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584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Building Your First Model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9502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Step-by-step approach for real projects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47472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474720"/>
            <a:ext cx="5029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474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94960" y="35844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Career Roadmap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9502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Roles, skills, and how to break 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AI / ML?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3657600"/>
          </a:xfrm>
          <a:prstGeom prst="roundRect">
            <a:avLst>
              <a:gd name="adj" fmla="val 30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7680960" cy="2926080"/>
          </a:xfrm>
          <a:prstGeom prst="roundRect">
            <a:avLst>
              <a:gd name="adj" fmla="val 375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783080"/>
            <a:ext cx="6766560" cy="219456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</a:rPr>
              <a:t>Machines simulating intelligence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719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Systems that learn from 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1810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DEEP LEARNING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084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</a:rPr>
              <a:t>Neural networks, multiple layers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3 Types of ML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737360"/>
            <a:ext cx="384048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737360"/>
            <a:ext cx="10972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17922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Supervised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30368" y="2084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Learn from labeled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(e.g. spam detection)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2743200"/>
            <a:ext cx="384048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2743200"/>
            <a:ext cx="10972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27980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Unsupervised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30368" y="309067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Find patterns, no labels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(e.g. customer segments)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3749040"/>
            <a:ext cx="384048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3749040"/>
            <a:ext cx="109728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3803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Reinforcement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409651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Learn via rewards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(e.g. game AI, robotics)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ML Pipeline — Industry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53312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APIs, databases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web scraping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01952" y="2514600"/>
            <a:ext cx="6400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5059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118872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1353312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93392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93392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Clean, normalize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feature engineer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21024" y="2514600"/>
            <a:ext cx="6400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45059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12464" y="118872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15384" y="1353312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15384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12464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12464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Choose algorithm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train &amp; tune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40096" y="2514600"/>
            <a:ext cx="6400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12664" y="245059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31536" y="118872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E11D48">
              <a:alpha val="1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34456" y="1353312"/>
            <a:ext cx="594360" cy="5943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34456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31536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31536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Accuracy, F1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precision, recall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59168" y="2514600"/>
            <a:ext cx="6400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31736" y="2450592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50608" y="1188720"/>
            <a:ext cx="1600200" cy="2651760"/>
          </a:xfrm>
          <a:prstGeom prst="roundRect">
            <a:avLst>
              <a:gd name="adj" fmla="val 5714"/>
            </a:avLst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53528" y="1353312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53528" y="1353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50608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50608" y="27432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REST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cloud / edge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11480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1E293B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11480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⚡  Industry reality: 80% of the work is in data collection &amp; preparation. Models are only as good as the data they're trained 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AI/ML Across Industries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1051560"/>
            <a:ext cx="28346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051560"/>
            <a:ext cx="2834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51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5087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Fraud detection (real-time)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" y="181965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Credit risk scoring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" y="213055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Algorithmic trading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2608" y="244144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Loan approval automation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051560"/>
            <a:ext cx="28346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051560"/>
            <a:ext cx="283464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051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5087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Medical image diagnosis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64408" y="181965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Drug discovery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64408" y="213055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Patient readmission risk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64408" y="244144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Clinical notes NLP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44768" y="1051560"/>
            <a:ext cx="28346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051560"/>
            <a:ext cx="28346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051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Retail &amp; E-comm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5087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Product recommendations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36208" y="181965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Dynamic pricing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6208" y="213055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Demand forecasting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36208" y="244144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Customer churn prediction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2971800"/>
            <a:ext cx="28346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" y="2971800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9718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Manufacturing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" y="342900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Predictive maintenance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92608" y="373989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Quality inspection (CV)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" y="405079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Supply chain optimization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436168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Defect detection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72968" y="2971800"/>
            <a:ext cx="28346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72968" y="2971800"/>
            <a:ext cx="28346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29718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 &amp; SaaS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64408" y="342900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Spam / content moderation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64408" y="373989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Search ranking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64408" y="405079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Churn &amp; upsell models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64408" y="436168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LLM-powered features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44768" y="2971800"/>
            <a:ext cx="2834640" cy="1783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44768" y="2971800"/>
            <a:ext cx="28346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29718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Logistics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36208" y="342900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Route optimization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36208" y="373989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ETA prediction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36208" y="405079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Warehouse robotics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36208" y="436168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Demand sensing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Tools &amp;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55448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Languages &amp; Libraries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65960" y="107899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7C3AED">
              <a:alpha val="2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07899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07899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7C3AED">
              <a:alpha val="2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07899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07899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7C3AED">
              <a:alpha val="2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07899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NumPy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107899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7C3AED">
              <a:alpha val="2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07899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Pandas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07899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7C3AED">
              <a:alpha val="2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07899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Scikit-learn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09560" y="107899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7C3AED">
              <a:alpha val="25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9560" y="107899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Matplotlib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155448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011680"/>
            <a:ext cx="155448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Deep Learning Frameworks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65960" y="208483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TensorFlow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54680" y="208483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PyTorch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208483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Keras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208483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JAX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208483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Hugging Face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09560" y="208483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D9488">
              <a:alpha val="25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09560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FastAI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017520"/>
            <a:ext cx="155448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017520"/>
            <a:ext cx="155448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Cloud ML Platforms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65960" y="309067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D97706">
              <a:alpha val="25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65960" y="309067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AWS SageMaker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54680" y="309067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D97706">
              <a:alpha val="25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4680" y="309067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Azure ML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43400" y="309067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D97706">
              <a:alpha val="25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309067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GCP Vertex AI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32120" y="309067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D97706">
              <a:alpha val="25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09067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Databricks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20840" y="309067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D97706">
              <a:alpha val="25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309067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Snowflake ML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09560" y="309067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D97706">
              <a:alpha val="25000"/>
            </a:srgbClr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09560" y="309067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DataRobot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023360"/>
            <a:ext cx="1554480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023360"/>
            <a:ext cx="155448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MLOps &amp; Deployment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965960" y="409651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59669">
              <a:alpha val="25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65960" y="409651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MLflow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154680" y="409651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59669">
              <a:alpha val="25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54680" y="409651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Kubeflow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343400" y="409651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59669">
              <a:alpha val="25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3400" y="409651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Docker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32120" y="409651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59669">
              <a:alpha val="25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32120" y="409651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Kubernetes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720840" y="409651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59669">
              <a:alpha val="25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0840" y="409651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909560" y="4096512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59669">
              <a:alpha val="25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09560" y="409651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Airflow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Building Your First ML Model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51960" cy="1188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9844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78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Define 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44475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Is it classification, regression, or clustering?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What does success look like? (KPIs)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51960" cy="1188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29844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1078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Collect &amp; Label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44475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Minimum ~1,000 samples for simple models.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 tools: Label Studio, Roboflow, Snowflake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251960" cy="1188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24328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404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Explore &amp; Clean (EDA)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77063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Pandas + Matplotlib. Check nulls, outliers,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correlations. 80% of effort lives here.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251960" cy="1188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624328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2404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Train a Baseline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32120" y="277063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Start simple: Logistic Regression 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Random Forest before trying neural nets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51960" cy="1188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950208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Evaluate &amp; Improve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0965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 cross-validation. Tune hyperparameters.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Compare: accuracy, precision, recall, AUC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251960" cy="11887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950208"/>
            <a:ext cx="502920" cy="5029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37307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Deploy &amp; Monitor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4096512"/>
            <a:ext cx="3337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Wrap in FastAPI. Deploy to AWS/GCP.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Monitor for data drift &amp; model degradation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AI/ML Career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70432"/>
            <a:ext cx="777240" cy="347472"/>
          </a:xfrm>
          <a:prstGeom prst="roundRect">
            <a:avLst>
              <a:gd name="adj" fmla="val 10526"/>
            </a:avLst>
          </a:prstGeom>
          <a:solidFill>
            <a:srgbClr val="5EEAD4">
              <a:alpha val="80000"/>
            </a:srgbClr>
          </a:solidFill>
          <a:ln w="12700">
            <a:solidFill>
              <a:srgbClr val="5EEAD4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704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Entry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234440" y="1078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Analyst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140817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$65K–$95K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37560" y="1207008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SQL · Excel · Tableau · Basic Python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8595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965960"/>
            <a:ext cx="777240" cy="347472"/>
          </a:xfrm>
          <a:prstGeom prst="roundRect">
            <a:avLst>
              <a:gd name="adj" fmla="val 10526"/>
            </a:avLst>
          </a:prstGeom>
          <a:solidFill>
            <a:srgbClr val="A78BFA">
              <a:alpha val="80000"/>
            </a:srgbClr>
          </a:solidFill>
          <a:ln w="12700">
            <a:solidFill>
              <a:srgbClr val="A78BFA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9659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Mid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3444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Scientist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34440" y="22037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</a:rPr>
              <a:t>$95K–$140K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2002536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Python · ML · Stats · Storytelling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8595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761488"/>
            <a:ext cx="777240" cy="347472"/>
          </a:xfrm>
          <a:prstGeom prst="roundRect">
            <a:avLst>
              <a:gd name="adj" fmla="val 10526"/>
            </a:avLst>
          </a:prstGeom>
          <a:solidFill>
            <a:srgbClr val="FCD34D">
              <a:alpha val="80000"/>
            </a:srgbClr>
          </a:solidFill>
          <a:ln w="12700">
            <a:solidFill>
              <a:srgbClr val="FCD34D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7614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Mid–Sr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34440" y="2670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ML Engineer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29992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</a:rPr>
              <a:t>$120K–$175K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798064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Python · MLOps · APIs · Cloud · Distributed Sys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392424"/>
            <a:ext cx="8595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557016"/>
            <a:ext cx="777240" cy="347472"/>
          </a:xfrm>
          <a:prstGeom prst="roundRect">
            <a:avLst>
              <a:gd name="adj" fmla="val 10526"/>
            </a:avLst>
          </a:prstGeom>
          <a:solidFill>
            <a:srgbClr val="FDA4AF">
              <a:alpha val="80000"/>
            </a:srgbClr>
          </a:solidFill>
          <a:ln w="12700">
            <a:solidFill>
              <a:srgbClr val="FDA4AF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55701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Senior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34440" y="34655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Research Scientist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34440" y="37947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A4AF"/>
                </a:solidFill>
              </a:rPr>
              <a:t>$150K–$250K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3593592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PhD preferred · Papers · Deep Learning · Math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187952"/>
            <a:ext cx="8595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4352544"/>
            <a:ext cx="777240" cy="347472"/>
          </a:xfrm>
          <a:prstGeom prst="roundRect">
            <a:avLst>
              <a:gd name="adj" fmla="val 10526"/>
            </a:avLst>
          </a:prstGeom>
          <a:solidFill>
            <a:srgbClr val="6EE7B7">
              <a:alpha val="80000"/>
            </a:srgbClr>
          </a:solidFill>
          <a:ln w="12700">
            <a:solidFill>
              <a:srgbClr val="6EE7B7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35254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Mid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234440" y="42611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MLOps Engineer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34440" y="45902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</a:rPr>
              <a:t>$115K–$160K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37560" y="43891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DevOps · Kubernetes · MLflow · CI/CD · Monitoring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Real Project: Customer Churn Prediction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Business Scenario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26464"/>
            <a:ext cx="402336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5544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146304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 telecom company loses 25% of customers annually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39696"/>
            <a:ext cx="402336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226771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267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" y="217627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Each lost customer costs ~$300 in re-acquisition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852928"/>
            <a:ext cx="402336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98094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" y="288950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Goal: Predict who will churn 30 days in advance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402336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69417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360273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Intervention: Targeted discount offer to at-risk users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Technical Approach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426464"/>
            <a:ext cx="42062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426464"/>
            <a:ext cx="100584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42646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Features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Usage, billing, support tickets, tenure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139696"/>
            <a:ext cx="42062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139696"/>
            <a:ext cx="100584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13969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Algorithm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60720" y="2267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XGBoost (gradient boosted trees)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852928"/>
            <a:ext cx="42062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852928"/>
            <a:ext cx="100584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85292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29809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18 months of historical data, 80/20 split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566160"/>
            <a:ext cx="100584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56616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Result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0720" y="36941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AUC 0.87 — 3× better than random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4279392"/>
            <a:ext cx="42062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4279392"/>
            <a:ext cx="100584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27939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Impact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760720" y="44074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$4.2M saved annually in churn prevention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67665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32688"/>
            <a:ext cx="457200" cy="676656"/>
          </a:xfrm>
          <a:prstGeom prst="rect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AI/ML is not magic — it's statistics + computation + good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8595360" cy="67665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19072"/>
            <a:ext cx="457200" cy="676656"/>
          </a:xfrm>
          <a:prstGeom prst="rect">
            <a:avLst/>
          </a:prstGeom>
          <a:solidFill>
            <a:srgbClr val="5EEAD4">
              <a:alpha val="85000"/>
            </a:srgbClr>
          </a:solidFill>
          <a:ln w="12700">
            <a:solidFill>
              <a:srgbClr val="5EEAD4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1907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883664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Every industry is being transformed — pick one and go deep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8595360" cy="67665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505456"/>
            <a:ext cx="457200" cy="676656"/>
          </a:xfrm>
          <a:prstGeom prst="rect">
            <a:avLst/>
          </a:prstGeom>
          <a:solidFill>
            <a:srgbClr val="FCD34D">
              <a:alpha val="85000"/>
            </a:srgbClr>
          </a:solidFill>
          <a:ln w="12700">
            <a:solidFill>
              <a:srgbClr val="FCD34D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05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67004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Data quality beats model complexity — always start with EDA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8595360" cy="67665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291840"/>
            <a:ext cx="457200" cy="676656"/>
          </a:xfrm>
          <a:prstGeom prst="rect">
            <a:avLst/>
          </a:prstGeom>
          <a:solidFill>
            <a:srgbClr val="FDA4AF">
              <a:alpha val="85000"/>
            </a:srgbClr>
          </a:solidFill>
          <a:ln w="12700">
            <a:solidFill>
              <a:srgbClr val="FDA4AF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918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45643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Learn Python + Scikit-learn + one cloud platform to get hired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078224"/>
            <a:ext cx="8595360" cy="67665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78224"/>
            <a:ext cx="457200" cy="676656"/>
          </a:xfrm>
          <a:prstGeom prst="rect">
            <a:avLst/>
          </a:prstGeom>
          <a:solidFill>
            <a:srgbClr val="6EE7B7">
              <a:alpha val="85000"/>
            </a:srgbClr>
          </a:solidFill>
          <a:ln w="12700">
            <a:solidFill>
              <a:srgbClr val="6EE7B7">
                <a:alpha val="8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7822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24281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Build projects, not just courses — GitHub is your portfolio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Start small. Ship something. Iterate.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 in Industry</dc:title>
  <dc:subject>PptxGenJS Presentation</dc:subject>
  <dc:creator>PptxGenJS</dc:creator>
  <cp:lastModifiedBy>PptxGenJS</cp:lastModifiedBy>
  <cp:revision>1</cp:revision>
  <dcterms:created xsi:type="dcterms:W3CDTF">2026-06-06T04:46:56Z</dcterms:created>
  <dcterms:modified xsi:type="dcterms:W3CDTF">2026-06-06T04:46:56Z</dcterms:modified>
</cp:coreProperties>
</file>